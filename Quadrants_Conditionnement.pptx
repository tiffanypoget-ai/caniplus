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274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600" kern="0" dirty="0">
                <a:solidFill>
                  <a:srgbClr val="2BAB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CANIPLUS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1F1F2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Les 4 cases du conditionnement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comment un chien apprend — et choisir ce qui respecte la relation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57200" cy="27432"/>
          </a:xfrm>
          <a:prstGeom prst="rect">
            <a:avLst/>
          </a:prstGeom>
          <a:solidFill>
            <a:srgbClr val="2BABE1"/>
          </a:solidFill>
          <a:ln w="12700">
            <a:solidFill>
              <a:srgbClr val="2BAB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2860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0E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RENFORCEMENT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256032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6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 comportement augmente)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38404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0E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PUNITION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411480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6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 comportement diminue)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371600" y="14173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0E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POSITIF  (on ajoute)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0" y="14173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0E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NÉGATIF  (on retire)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371600" y="1783080"/>
            <a:ext cx="73152" cy="1417320"/>
          </a:xfrm>
          <a:prstGeom prst="rect">
            <a:avLst/>
          </a:prstGeom>
          <a:solidFill>
            <a:srgbClr val="5BA88C"/>
          </a:solidFill>
          <a:ln w="12700">
            <a:solidFill>
              <a:srgbClr val="5BA88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44752" y="1783080"/>
            <a:ext cx="344728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00200" y="189280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A88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R+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3840480" y="1984248"/>
            <a:ext cx="960120" cy="201168"/>
          </a:xfrm>
          <a:prstGeom prst="rect">
            <a:avLst/>
          </a:prstGeom>
          <a:solidFill>
            <a:srgbClr val="5BA88C"/>
          </a:solidFill>
          <a:ln w="12700">
            <a:solidFill>
              <a:srgbClr val="5BA8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0" y="19842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PRIVILÉGIER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331720" y="194767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5A8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Renforcement positif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600200" y="242316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Le chien s'assied → friandise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Il revient au rappel → félicitations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Laisse détendue → on continue d'avancer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0" y="1783080"/>
            <a:ext cx="73152" cy="1417320"/>
          </a:xfrm>
          <a:prstGeom prst="rect">
            <a:avLst/>
          </a:prstGeom>
          <a:solidFill>
            <a:srgbClr val="C97B5A"/>
          </a:solidFill>
          <a:ln w="12700">
            <a:solidFill>
              <a:srgbClr val="C97B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02352" y="1783080"/>
            <a:ext cx="344728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7800" y="189280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7B5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R−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7498080" y="1984248"/>
            <a:ext cx="960120" cy="201168"/>
          </a:xfrm>
          <a:prstGeom prst="rect">
            <a:avLst/>
          </a:prstGeom>
          <a:solidFill>
            <a:srgbClr val="C97B5A"/>
          </a:solidFill>
          <a:ln w="12700">
            <a:solidFill>
              <a:srgbClr val="C97B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0" y="19842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ÉVITER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989320" y="194767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5A8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Renforcement négatif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257800" y="242316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Tirer sur le collier jusqu'au « assis »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Pression continue tant qu'il n'obéit pas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Collier électrique relâché à l'obéissance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371600" y="3337560"/>
            <a:ext cx="73152" cy="1417320"/>
          </a:xfrm>
          <a:prstGeom prst="rect">
            <a:avLst/>
          </a:prstGeom>
          <a:solidFill>
            <a:srgbClr val="B04A4A"/>
          </a:solidFill>
          <a:ln w="12700">
            <a:solidFill>
              <a:srgbClr val="B04A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4752" y="3337560"/>
            <a:ext cx="344728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00200" y="344728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04A4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P+</a:t>
            </a:r>
            <a:endParaRPr lang="en-US" sz="2800" dirty="0"/>
          </a:p>
        </p:txBody>
      </p:sp>
      <p:sp>
        <p:nvSpPr>
          <p:cNvPr id="29" name="Shape 27"/>
          <p:cNvSpPr/>
          <p:nvPr/>
        </p:nvSpPr>
        <p:spPr>
          <a:xfrm>
            <a:off x="3840480" y="3538728"/>
            <a:ext cx="960120" cy="201168"/>
          </a:xfrm>
          <a:prstGeom prst="rect">
            <a:avLst/>
          </a:prstGeom>
          <a:solidFill>
            <a:srgbClr val="B04A4A"/>
          </a:solidFill>
          <a:ln w="12700">
            <a:solidFill>
              <a:srgbClr val="B04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0" y="353872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PROSCRIRE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331720" y="35021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5A8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Punition positive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600200" y="397764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Crier ou taper le chien qui aboie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Coup sec sur la laisse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Collier à pointes ou électrique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029200" y="3337560"/>
            <a:ext cx="73152" cy="1417320"/>
          </a:xfrm>
          <a:prstGeom prst="rect">
            <a:avLst/>
          </a:prstGeom>
          <a:solidFill>
            <a:srgbClr val="7FB7D5"/>
          </a:solidFill>
          <a:ln w="12700">
            <a:solidFill>
              <a:srgbClr val="7FB7D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02352" y="3337560"/>
            <a:ext cx="344728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57800" y="344728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FB7D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P−</a:t>
            </a:r>
            <a:endParaRPr lang="en-US" sz="2800" dirty="0"/>
          </a:p>
        </p:txBody>
      </p:sp>
      <p:sp>
        <p:nvSpPr>
          <p:cNvPr id="36" name="Shape 34"/>
          <p:cNvSpPr/>
          <p:nvPr/>
        </p:nvSpPr>
        <p:spPr>
          <a:xfrm>
            <a:off x="7498080" y="3538728"/>
            <a:ext cx="960120" cy="201168"/>
          </a:xfrm>
          <a:prstGeom prst="rect">
            <a:avLst/>
          </a:prstGeom>
          <a:solidFill>
            <a:srgbClr val="7FB7D5"/>
          </a:solidFill>
          <a:ln w="12700">
            <a:solidFill>
              <a:srgbClr val="7FB7D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8080" y="353872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FINESSE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989320" y="35021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5A8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Punition négative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257800" y="397764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Il saute pour dire bonjour → tu te détournes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Il tire en laisse → tu t'arrêtes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F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Il mordille → tu cesses le jeu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4754880"/>
            <a:ext cx="274320" cy="22860"/>
          </a:xfrm>
          <a:prstGeom prst="rect">
            <a:avLst/>
          </a:prstGeom>
          <a:solidFill>
            <a:srgbClr val="2BABE1"/>
          </a:solidFill>
          <a:ln w="12700">
            <a:solidFill>
              <a:srgbClr val="2BAB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L'approche CaniPlus  </a:t>
            </a:r>
            <a:pPr indent="0" marL="0">
              <a:buNone/>
            </a:pPr>
            <a:r>
              <a:rPr lang="en-US" sz="1000" dirty="0">
                <a:solidFill>
                  <a:srgbClr val="6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avec </a:t>
            </a:r>
            <a:pPr indent="0" marL="0">
              <a:buNone/>
            </a:pPr>
            <a:r>
              <a:rPr lang="en-US" sz="1000" b="1" dirty="0">
                <a:solidFill>
                  <a:srgbClr val="5BA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R+</a:t>
            </a:r>
            <a:pPr indent="0" marL="0">
              <a:buNone/>
            </a:pPr>
            <a:r>
              <a:rPr lang="en-US" sz="1000" dirty="0">
                <a:solidFill>
                  <a:srgbClr val="6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réguler avec </a:t>
            </a:r>
            <a:pPr indent="0" marL="0">
              <a:buNone/>
            </a:pPr>
            <a:r>
              <a:rPr lang="en-US" sz="1000" b="1" dirty="0">
                <a:solidFill>
                  <a:srgbClr val="7FB7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P−</a:t>
            </a:r>
            <a:pPr indent="0" marL="0">
              <a:buNone/>
            </a:pPr>
            <a:r>
              <a:rPr lang="en-US" sz="1000" i="1" dirty="0">
                <a:solidFill>
                  <a:srgbClr val="6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Jamais de douleur, jamais de peur.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4 cases du conditionnement opérant</dc:title>
  <dc:subject>PptxGenJS Presentation</dc:subject>
  <dc:creator>CaniPlus</dc:creator>
  <cp:lastModifiedBy>CaniPlus</cp:lastModifiedBy>
  <cp:revision>1</cp:revision>
  <dcterms:created xsi:type="dcterms:W3CDTF">2026-04-26T09:19:59Z</dcterms:created>
  <dcterms:modified xsi:type="dcterms:W3CDTF">2026-04-26T09:19:59Z</dcterms:modified>
</cp:coreProperties>
</file>